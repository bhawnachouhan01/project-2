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8989"/>
    <a:srgbClr val="AAAAAA"/>
    <a:srgbClr val="1E1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3016A-F661-4447-BC8C-77B30AF39CB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A7A26-07B5-4A30-AADC-473CE0C63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270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3016A-F661-4447-BC8C-77B30AF39CB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A7A26-07B5-4A30-AADC-473CE0C63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890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3016A-F661-4447-BC8C-77B30AF39CB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A7A26-07B5-4A30-AADC-473CE0C63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179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3016A-F661-4447-BC8C-77B30AF39CB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A7A26-07B5-4A30-AADC-473CE0C63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37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3016A-F661-4447-BC8C-77B30AF39CB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A7A26-07B5-4A30-AADC-473CE0C63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448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3016A-F661-4447-BC8C-77B30AF39CB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A7A26-07B5-4A30-AADC-473CE0C63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58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3016A-F661-4447-BC8C-77B30AF39CB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A7A26-07B5-4A30-AADC-473CE0C63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517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3016A-F661-4447-BC8C-77B30AF39CB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A7A26-07B5-4A30-AADC-473CE0C63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023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3016A-F661-4447-BC8C-77B30AF39CB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A7A26-07B5-4A30-AADC-473CE0C63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2563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3016A-F661-4447-BC8C-77B30AF39CB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A7A26-07B5-4A30-AADC-473CE0C63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941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3016A-F661-4447-BC8C-77B30AF39CB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A7A26-07B5-4A30-AADC-473CE0C63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883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C3016A-F661-4447-BC8C-77B30AF39CB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5A7A26-07B5-4A30-AADC-473CE0C63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44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79" y="1484784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sz="4900" b="1" dirty="0" smtClean="0">
                <a:solidFill>
                  <a:schemeClr val="accent6"/>
                </a:solidFill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  <a:latin typeface="Segoe UI" pitchFamily="34" charset="0"/>
                <a:ea typeface="Microsoft Yi Baiti" pitchFamily="66" charset="0"/>
                <a:cs typeface="Segoe UI" pitchFamily="34" charset="0"/>
              </a:rPr>
              <a:t>Calculator+ </a:t>
            </a:r>
            <a:r>
              <a:rPr lang="en-US" b="1" dirty="0" smtClean="0">
                <a:solidFill>
                  <a:schemeClr val="bg1"/>
                </a:solidFill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  <a:latin typeface="Segoe UI" pitchFamily="34" charset="0"/>
                <a:ea typeface="Microsoft Yi Baiti" pitchFamily="66" charset="0"/>
                <a:cs typeface="Segoe UI" pitchFamily="34" charset="0"/>
              </a:rPr>
              <a:t/>
            </a:r>
            <a:br>
              <a:rPr lang="en-US" b="1" dirty="0" smtClean="0">
                <a:solidFill>
                  <a:schemeClr val="bg1"/>
                </a:solidFill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  <a:latin typeface="Segoe UI" pitchFamily="34" charset="0"/>
                <a:ea typeface="Microsoft Yi Baiti" pitchFamily="66" charset="0"/>
                <a:cs typeface="Segoe UI" pitchFamily="34" charset="0"/>
              </a:rPr>
            </a:br>
            <a:r>
              <a:rPr lang="en-US" sz="4000" b="1" dirty="0" smtClean="0">
                <a:solidFill>
                  <a:schemeClr val="bg1"/>
                </a:solidFill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  <a:latin typeface="Segoe UI" pitchFamily="34" charset="0"/>
                <a:ea typeface="Microsoft Yi Baiti" pitchFamily="66" charset="0"/>
                <a:cs typeface="Segoe UI" pitchFamily="34" charset="0"/>
              </a:rPr>
              <a:t>Unified Smart Calculation System</a:t>
            </a:r>
            <a:endParaRPr lang="en-IN" sz="4000" b="1" dirty="0">
              <a:solidFill>
                <a:schemeClr val="bg1"/>
              </a:solidFill>
              <a:effectLst>
                <a:innerShdw blurRad="63500" dist="50800" dir="10800000">
                  <a:prstClr val="black">
                    <a:alpha val="50000"/>
                  </a:prstClr>
                </a:innerShdw>
              </a:effectLst>
              <a:latin typeface="Segoe UI" pitchFamily="34" charset="0"/>
              <a:ea typeface="Microsoft Yi Baiti" pitchFamily="66" charset="0"/>
              <a:cs typeface="Segoe UI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3645024"/>
            <a:ext cx="7344815" cy="1752600"/>
          </a:xfrm>
        </p:spPr>
        <p:txBody>
          <a:bodyPr>
            <a:normAutofit fontScale="92500" lnSpcReduction="10000"/>
          </a:bodyPr>
          <a:lstStyle/>
          <a:p>
            <a:r>
              <a:rPr lang="en-US" sz="3000" dirty="0" smtClean="0">
                <a:solidFill>
                  <a:srgbClr val="898989"/>
                </a:solidFill>
                <a:latin typeface="Segoe UI" pitchFamily="34" charset="0"/>
                <a:cs typeface="Segoe UI" pitchFamily="34" charset="0"/>
              </a:rPr>
              <a:t>A Multi-Mode Desktop Application using Python</a:t>
            </a:r>
          </a:p>
          <a:p>
            <a:endParaRPr lang="en-US" dirty="0" smtClean="0"/>
          </a:p>
          <a:p>
            <a:r>
              <a:rPr lang="en-US" sz="2200" i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Segoe UI" pitchFamily="34" charset="0"/>
                <a:cs typeface="Segoe UI" pitchFamily="34" charset="0"/>
              </a:rPr>
              <a:t>“One Tool, All Calculations”</a:t>
            </a:r>
            <a:endParaRPr lang="en-US" sz="2200" i="1" dirty="0">
              <a:solidFill>
                <a:schemeClr val="accent6">
                  <a:lumMod val="60000"/>
                  <a:lumOff val="40000"/>
                </a:schemeClr>
              </a:solidFill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3042" y="332656"/>
            <a:ext cx="9147042" cy="288032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5508104" y="5373216"/>
            <a:ext cx="2747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rgbClr val="AAAAAA"/>
                </a:solidFill>
                <a:latin typeface="Segoe UI" pitchFamily="34" charset="0"/>
                <a:cs typeface="Segoe UI" pitchFamily="34" charset="0"/>
              </a:rPr>
              <a:t>Presented by: </a:t>
            </a:r>
            <a:r>
              <a:rPr lang="en-US" sz="1400" dirty="0" err="1" smtClean="0">
                <a:solidFill>
                  <a:srgbClr val="AAAAAA"/>
                </a:solidFill>
                <a:latin typeface="Segoe UI" pitchFamily="34" charset="0"/>
                <a:cs typeface="Segoe UI" pitchFamily="34" charset="0"/>
              </a:rPr>
              <a:t>Bhawna</a:t>
            </a:r>
            <a:r>
              <a:rPr lang="en-US" sz="1400" dirty="0" smtClean="0">
                <a:solidFill>
                  <a:srgbClr val="AAAAAA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1400" dirty="0" err="1" smtClean="0">
                <a:solidFill>
                  <a:srgbClr val="AAAAAA"/>
                </a:solidFill>
                <a:latin typeface="Segoe UI" pitchFamily="34" charset="0"/>
                <a:cs typeface="Segoe UI" pitchFamily="34" charset="0"/>
              </a:rPr>
              <a:t>Chouhan</a:t>
            </a:r>
            <a:endParaRPr lang="en-US" sz="1400" dirty="0" smtClean="0">
              <a:solidFill>
                <a:srgbClr val="AAAAAA"/>
              </a:solidFill>
              <a:latin typeface="Segoe UI" pitchFamily="34" charset="0"/>
              <a:cs typeface="Segoe UI" pitchFamily="34" charset="0"/>
            </a:endParaRPr>
          </a:p>
          <a:p>
            <a:pPr algn="r"/>
            <a:r>
              <a:rPr lang="en-US" sz="1400" dirty="0" smtClean="0">
                <a:solidFill>
                  <a:srgbClr val="AAAAAA"/>
                </a:solidFill>
                <a:latin typeface="Segoe UI" pitchFamily="34" charset="0"/>
                <a:cs typeface="Segoe UI" pitchFamily="34" charset="0"/>
              </a:rPr>
              <a:t>Date: April 2026 </a:t>
            </a:r>
            <a:endParaRPr lang="en-IN" sz="1400" dirty="0">
              <a:solidFill>
                <a:srgbClr val="AAAAAA"/>
              </a:solidFill>
              <a:latin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900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b="1" dirty="0" smtClean="0">
                <a:solidFill>
                  <a:schemeClr val="accent6"/>
                </a:solidFill>
                <a:latin typeface="Segoe UI" pitchFamily="34" charset="0"/>
                <a:cs typeface="Segoe UI" pitchFamily="34" charset="0"/>
              </a:rPr>
              <a:t>The Problem</a:t>
            </a:r>
            <a:endParaRPr lang="en-IN" sz="3600" b="1" dirty="0">
              <a:solidFill>
                <a:schemeClr val="accent6"/>
              </a:solidFill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Users rely on multiple tools for different calculations</a:t>
            </a:r>
          </a:p>
          <a:p>
            <a:pPr marL="0" indent="0">
              <a:buNone/>
            </a:pPr>
            <a:endParaRPr lang="en-US" sz="2400" dirty="0" smtClean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Switching between applications is time-consuming and inefficient</a:t>
            </a:r>
          </a:p>
          <a:p>
            <a:pPr marL="0" indent="0">
              <a:buNone/>
            </a:pPr>
            <a:endParaRPr lang="en-US" sz="2400" dirty="0" smtClean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No integration of advanced features</a:t>
            </a:r>
          </a:p>
          <a:p>
            <a:pPr marL="0" indent="0">
              <a:buNone/>
            </a:pPr>
            <a:endParaRPr lang="en-US" sz="2400" dirty="0" smtClean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No single platform provides a complete calculation solution</a:t>
            </a:r>
          </a:p>
          <a:p>
            <a:endParaRPr lang="en-US" sz="2800" dirty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pPr marL="0" indent="0">
              <a:buNone/>
            </a:pPr>
            <a:r>
              <a:rPr lang="en-US" sz="2800" i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Segoe UI" pitchFamily="34" charset="0"/>
                <a:cs typeface="Segoe UI" pitchFamily="34" charset="0"/>
              </a:rPr>
              <a:t>“There is no unified solution for all calculation needs.”</a:t>
            </a:r>
            <a:endParaRPr lang="en-IN" sz="2800" i="1" dirty="0">
              <a:solidFill>
                <a:schemeClr val="accent6">
                  <a:lumMod val="60000"/>
                  <a:lumOff val="40000"/>
                </a:schemeClr>
              </a:solidFill>
              <a:latin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265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b="1" dirty="0" smtClean="0">
                <a:solidFill>
                  <a:schemeClr val="accent6"/>
                </a:solidFill>
                <a:latin typeface="Segoe UI" pitchFamily="34" charset="0"/>
                <a:cs typeface="Segoe UI" pitchFamily="34" charset="0"/>
              </a:rPr>
              <a:t>The Solution</a:t>
            </a:r>
            <a:endParaRPr lang="en-IN" sz="3600" b="1" dirty="0">
              <a:solidFill>
                <a:schemeClr val="accent6"/>
              </a:solidFill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Developed Calculator+ as a unified platform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Combine multiple calculation tools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Includes Basic, Scientific, and Programmer modes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Designed for efficiency and ease of use</a:t>
            </a:r>
          </a:p>
          <a:p>
            <a:pPr marL="0" indent="0">
              <a:buNone/>
            </a:pPr>
            <a:endParaRPr lang="en-US" sz="2400" dirty="0" smtClean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Calculator+ Structure:</a:t>
            </a:r>
            <a:endParaRPr lang="en-US" sz="2400" i="1" dirty="0">
              <a:solidFill>
                <a:schemeClr val="accent6">
                  <a:lumMod val="40000"/>
                  <a:lumOff val="60000"/>
                </a:schemeClr>
              </a:solidFill>
              <a:latin typeface="Segoe UI" pitchFamily="34" charset="0"/>
              <a:cs typeface="Segoe UI" pitchFamily="34" charset="0"/>
            </a:endParaRPr>
          </a:p>
          <a:p>
            <a:pPr marL="0" indent="0" algn="ctr">
              <a:buNone/>
            </a:pPr>
            <a:r>
              <a:rPr lang="en-US" sz="2200" i="1" dirty="0" smtClean="0">
                <a:solidFill>
                  <a:srgbClr val="898989"/>
                </a:solidFill>
                <a:latin typeface="Segoe UI" pitchFamily="34" charset="0"/>
                <a:cs typeface="Segoe UI" pitchFamily="34" charset="0"/>
              </a:rPr>
              <a:t>Basic Calculator</a:t>
            </a:r>
          </a:p>
          <a:p>
            <a:pPr marL="0" indent="0" algn="ctr">
              <a:buNone/>
            </a:pPr>
            <a:endParaRPr lang="en-US" sz="2200" i="1" dirty="0" smtClean="0">
              <a:solidFill>
                <a:srgbClr val="898989"/>
              </a:solidFill>
              <a:latin typeface="Segoe UI" pitchFamily="34" charset="0"/>
              <a:cs typeface="Segoe UI" pitchFamily="34" charset="0"/>
            </a:endParaRPr>
          </a:p>
          <a:p>
            <a:pPr marL="0" indent="0" algn="ctr">
              <a:buNone/>
            </a:pPr>
            <a:r>
              <a:rPr lang="en-US" sz="2200" i="1" dirty="0" smtClean="0">
                <a:solidFill>
                  <a:srgbClr val="898989"/>
                </a:solidFill>
                <a:latin typeface="Segoe UI" pitchFamily="34" charset="0"/>
                <a:cs typeface="Segoe UI" pitchFamily="34" charset="0"/>
              </a:rPr>
              <a:t>Scientific Calculator</a:t>
            </a:r>
          </a:p>
          <a:p>
            <a:pPr marL="0" indent="0" algn="ctr">
              <a:buNone/>
            </a:pPr>
            <a:endParaRPr lang="en-US" sz="2200" i="1" dirty="0" smtClean="0">
              <a:solidFill>
                <a:srgbClr val="898989"/>
              </a:solidFill>
              <a:latin typeface="Segoe UI" pitchFamily="34" charset="0"/>
              <a:cs typeface="Segoe UI" pitchFamily="34" charset="0"/>
            </a:endParaRPr>
          </a:p>
          <a:p>
            <a:pPr marL="0" indent="0" algn="ctr">
              <a:buNone/>
            </a:pPr>
            <a:r>
              <a:rPr lang="en-US" sz="2200" i="1" dirty="0" smtClean="0">
                <a:solidFill>
                  <a:srgbClr val="898989"/>
                </a:solidFill>
                <a:latin typeface="Segoe UI" pitchFamily="34" charset="0"/>
                <a:cs typeface="Segoe UI" pitchFamily="34" charset="0"/>
              </a:rPr>
              <a:t>Programmer Calculator</a:t>
            </a:r>
            <a:endParaRPr lang="en-US" sz="2200" i="1" dirty="0">
              <a:solidFill>
                <a:srgbClr val="898989"/>
              </a:solidFill>
              <a:latin typeface="Segoe UI" pitchFamily="34" charset="0"/>
              <a:cs typeface="Segoe UI" pitchFamily="34" charset="0"/>
            </a:endParaRPr>
          </a:p>
          <a:p>
            <a:pPr marL="0" indent="0">
              <a:buNone/>
            </a:pPr>
            <a:endParaRPr lang="en-US" sz="2600" i="1" dirty="0">
              <a:solidFill>
                <a:schemeClr val="accent6">
                  <a:lumMod val="40000"/>
                  <a:lumOff val="60000"/>
                </a:schemeClr>
              </a:solidFill>
              <a:latin typeface="Segoe UI" pitchFamily="34" charset="0"/>
              <a:cs typeface="Segoe UI" pitchFamily="34" charset="0"/>
            </a:endParaRPr>
          </a:p>
          <a:p>
            <a:pPr marL="0" indent="0">
              <a:buNone/>
            </a:pPr>
            <a:r>
              <a:rPr lang="en-US" sz="2800" i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Segoe UI" pitchFamily="34" charset="0"/>
                <a:cs typeface="Segoe UI" pitchFamily="34" charset="0"/>
              </a:rPr>
              <a:t>“All Calculations. One Smart System.”</a:t>
            </a:r>
          </a:p>
          <a:p>
            <a:endParaRPr lang="en-US" sz="2600" i="1" dirty="0">
              <a:solidFill>
                <a:schemeClr val="accent6">
                  <a:lumMod val="40000"/>
                  <a:lumOff val="60000"/>
                </a:schemeClr>
              </a:solidFill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4" name="Down Arrow 3"/>
          <p:cNvSpPr/>
          <p:nvPr/>
        </p:nvSpPr>
        <p:spPr>
          <a:xfrm>
            <a:off x="4503235" y="3966831"/>
            <a:ext cx="144016" cy="216024"/>
          </a:xfrm>
          <a:prstGeom prst="downArrow">
            <a:avLst/>
          </a:prstGeom>
          <a:solidFill>
            <a:schemeClr val="bg1"/>
          </a:solidFill>
          <a:ln>
            <a:solidFill>
              <a:srgbClr val="AAA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wn Arrow 4"/>
          <p:cNvSpPr/>
          <p:nvPr/>
        </p:nvSpPr>
        <p:spPr>
          <a:xfrm>
            <a:off x="4511079" y="4674232"/>
            <a:ext cx="144016" cy="216024"/>
          </a:xfrm>
          <a:prstGeom prst="downArrow">
            <a:avLst/>
          </a:prstGeom>
          <a:solidFill>
            <a:schemeClr val="bg1"/>
          </a:solidFill>
          <a:ln>
            <a:solidFill>
              <a:srgbClr val="AAA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593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b="1" dirty="0" smtClean="0">
                <a:solidFill>
                  <a:schemeClr val="accent6"/>
                </a:solidFill>
                <a:latin typeface="Segoe UI" pitchFamily="34" charset="0"/>
                <a:cs typeface="Segoe UI" pitchFamily="34" charset="0"/>
              </a:rPr>
              <a:t>System Overview</a:t>
            </a:r>
            <a:endParaRPr lang="en-IN" sz="3600" b="1" dirty="0">
              <a:solidFill>
                <a:schemeClr val="accent6"/>
              </a:solidFill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>
            <a:normAutofit lnSpcReduction="10000"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Three main modules:</a:t>
            </a:r>
          </a:p>
          <a:p>
            <a:pPr lvl="1"/>
            <a:r>
              <a:rPr lang="en-US" sz="18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Basic </a:t>
            </a:r>
          </a:p>
          <a:p>
            <a:pPr lvl="1"/>
            <a:r>
              <a:rPr lang="en-US" sz="18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Scientific </a:t>
            </a:r>
            <a:endParaRPr lang="en-US" sz="1800" dirty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pPr lvl="1"/>
            <a:r>
              <a:rPr lang="en-US" sz="18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Programmer </a:t>
            </a:r>
            <a:endParaRPr lang="en-US" sz="1800" dirty="0" smtClean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r>
              <a:rPr lang="en-US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Each module handles specific calculations</a:t>
            </a:r>
          </a:p>
          <a:p>
            <a:endParaRPr lang="en-US" sz="2200" dirty="0" smtClean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endParaRPr lang="en-US" sz="2200" dirty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endParaRPr lang="en-US" sz="2200" dirty="0" smtClean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endParaRPr lang="en-US" sz="2200" dirty="0" smtClean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endParaRPr lang="en-US" sz="2200" dirty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pPr marL="0" indent="0">
              <a:buNone/>
            </a:pPr>
            <a:endParaRPr lang="en-US" sz="2200" dirty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pPr marL="0" indent="0">
              <a:buNone/>
            </a:pPr>
            <a:r>
              <a:rPr lang="en-US" sz="2600" i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Segoe UI" pitchFamily="34" charset="0"/>
                <a:cs typeface="Segoe UI" pitchFamily="34" charset="0"/>
              </a:rPr>
              <a:t>“A modular design ensures flexibility and scalability.”</a:t>
            </a:r>
            <a:endParaRPr lang="en-IN" sz="2600" i="1" dirty="0" smtClean="0">
              <a:solidFill>
                <a:schemeClr val="accent6">
                  <a:lumMod val="60000"/>
                  <a:lumOff val="40000"/>
                </a:schemeClr>
              </a:solidFill>
              <a:latin typeface="Segoe UI" pitchFamily="34" charset="0"/>
              <a:cs typeface="Segoe UI" pitchFamily="34" charset="0"/>
            </a:endParaRPr>
          </a:p>
          <a:p>
            <a:pPr marL="457200" lvl="1" indent="0">
              <a:buNone/>
            </a:pPr>
            <a:endParaRPr lang="en-US" sz="1800" dirty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pPr marL="457200" lvl="1" indent="0">
              <a:buNone/>
            </a:pPr>
            <a:endParaRPr lang="en-US" sz="1800" dirty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23828" y="3440014"/>
            <a:ext cx="2376264" cy="5783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Calculator+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39552" y="4581128"/>
            <a:ext cx="2016224" cy="68407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Basic Module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0152" y="4581128"/>
            <a:ext cx="2304256" cy="68718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Programmer Module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131840" y="4581128"/>
            <a:ext cx="2160240" cy="68718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Scientific Module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6" name="Elbow Connector 15"/>
          <p:cNvCxnSpPr>
            <a:stCxn id="5" idx="2"/>
            <a:endCxn id="7" idx="0"/>
          </p:cNvCxnSpPr>
          <p:nvPr/>
        </p:nvCxnSpPr>
        <p:spPr>
          <a:xfrm rot="16200000" flipH="1">
            <a:off x="5370762" y="2859609"/>
            <a:ext cx="562717" cy="2880320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/>
          <p:cNvCxnSpPr>
            <a:stCxn id="5" idx="2"/>
            <a:endCxn id="8" idx="0"/>
          </p:cNvCxnSpPr>
          <p:nvPr/>
        </p:nvCxnSpPr>
        <p:spPr>
          <a:xfrm rot="5400000">
            <a:off x="3930602" y="4299769"/>
            <a:ext cx="562717" cy="12700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/>
          <p:cNvCxnSpPr>
            <a:stCxn id="5" idx="2"/>
            <a:endCxn id="6" idx="0"/>
          </p:cNvCxnSpPr>
          <p:nvPr/>
        </p:nvCxnSpPr>
        <p:spPr>
          <a:xfrm rot="5400000">
            <a:off x="2598454" y="2967621"/>
            <a:ext cx="562717" cy="2664296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829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b="1" dirty="0" smtClean="0">
                <a:solidFill>
                  <a:schemeClr val="accent6"/>
                </a:solidFill>
                <a:latin typeface="Segoe UI" pitchFamily="34" charset="0"/>
                <a:cs typeface="Segoe UI" pitchFamily="34" charset="0"/>
              </a:rPr>
              <a:t>Technology Stack</a:t>
            </a:r>
            <a:endParaRPr lang="en-IN" sz="3600" b="1" dirty="0">
              <a:solidFill>
                <a:schemeClr val="accent6"/>
              </a:solidFill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Python </a:t>
            </a:r>
            <a:r>
              <a:rPr lang="en-US" sz="2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-</a:t>
            </a:r>
            <a:r>
              <a:rPr lang="en-US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 Core program</a:t>
            </a:r>
            <a:r>
              <a:rPr lang="en-US" sz="2200" b="1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m</a:t>
            </a:r>
            <a:r>
              <a:rPr lang="en-US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ing language</a:t>
            </a:r>
          </a:p>
          <a:p>
            <a:r>
              <a:rPr lang="en-US" sz="2200" b="1" dirty="0" err="1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Tkinter</a:t>
            </a:r>
            <a:r>
              <a:rPr lang="en-US" sz="2200" b="1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2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-</a:t>
            </a:r>
            <a:r>
              <a:rPr lang="en-US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 GUI framework</a:t>
            </a:r>
          </a:p>
          <a:p>
            <a:r>
              <a:rPr lang="en-US" sz="2200" b="1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Math Module </a:t>
            </a:r>
            <a:r>
              <a:rPr lang="en-US" sz="2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-</a:t>
            </a:r>
            <a:r>
              <a:rPr lang="en-US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 Performs scientific calculations</a:t>
            </a:r>
          </a:p>
          <a:p>
            <a:r>
              <a:rPr lang="en-US" sz="2200" b="1" dirty="0" err="1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Datetime</a:t>
            </a:r>
            <a:r>
              <a:rPr lang="en-US" sz="2200" b="1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 Module </a:t>
            </a:r>
            <a:r>
              <a:rPr lang="en-US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– History tracking</a:t>
            </a:r>
          </a:p>
          <a:p>
            <a:r>
              <a:rPr lang="en-US" sz="2200" b="1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Desktop Application</a:t>
            </a:r>
            <a:r>
              <a:rPr lang="en-US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 - Runs on a local system</a:t>
            </a:r>
          </a:p>
          <a:p>
            <a:endParaRPr lang="en-US" sz="2200" b="1" dirty="0" smtClean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endParaRPr lang="en-US" sz="2200" b="1" dirty="0" smtClean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pPr marL="0" indent="0">
              <a:buNone/>
            </a:pPr>
            <a:r>
              <a:rPr lang="en-US" sz="2600" i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Segoe UI" pitchFamily="34" charset="0"/>
                <a:cs typeface="Segoe UI" pitchFamily="34" charset="0"/>
              </a:rPr>
              <a:t>“Built using Python with a focus on simplicity and functionality.”</a:t>
            </a:r>
            <a:endParaRPr lang="en-IN" sz="2600" i="1" dirty="0">
              <a:solidFill>
                <a:schemeClr val="accent6">
                  <a:lumMod val="60000"/>
                  <a:lumOff val="40000"/>
                </a:schemeClr>
              </a:solidFill>
              <a:latin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994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b="1" dirty="0" smtClean="0">
                <a:solidFill>
                  <a:schemeClr val="accent6"/>
                </a:solidFill>
                <a:latin typeface="Segoe UI" pitchFamily="34" charset="0"/>
                <a:cs typeface="Segoe UI" pitchFamily="34" charset="0"/>
              </a:rPr>
              <a:t>Key Features</a:t>
            </a:r>
            <a:endParaRPr lang="en-IN" sz="3600" b="1" dirty="0">
              <a:solidFill>
                <a:schemeClr val="accent6"/>
              </a:solidFill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Multi-mode</a:t>
            </a:r>
            <a:r>
              <a:rPr lang="en-US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 calculator (Basic, Scientific, Programmer)</a:t>
            </a:r>
          </a:p>
          <a:p>
            <a:r>
              <a:rPr lang="en-US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User-friendly interface with clean design </a:t>
            </a:r>
          </a:p>
          <a:p>
            <a:r>
              <a:rPr lang="en-US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Supports advanced scientific operations</a:t>
            </a:r>
          </a:p>
          <a:p>
            <a:r>
              <a:rPr lang="en-US" sz="2200" b="1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Programmer tools</a:t>
            </a:r>
            <a:r>
              <a:rPr lang="en-US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 (Binary, Hex, Octal conversions)</a:t>
            </a:r>
          </a:p>
          <a:p>
            <a:r>
              <a:rPr lang="en-US" sz="2200" b="1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Bitwise operations </a:t>
            </a:r>
            <a:r>
              <a:rPr lang="en-US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(AND, OR, XOR, Shift)</a:t>
            </a:r>
          </a:p>
          <a:p>
            <a:r>
              <a:rPr lang="en-US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Calculation history with 24-hour tracking</a:t>
            </a:r>
          </a:p>
          <a:p>
            <a:r>
              <a:rPr lang="en-US" sz="2200" b="1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ASCII</a:t>
            </a:r>
            <a:r>
              <a:rPr lang="en-US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 conversion functionality</a:t>
            </a:r>
          </a:p>
          <a:p>
            <a:r>
              <a:rPr lang="en-US" sz="2200" b="1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Fibonacci</a:t>
            </a:r>
            <a:r>
              <a:rPr lang="en-US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 series generator</a:t>
            </a:r>
          </a:p>
          <a:p>
            <a:pPr marL="0" indent="0">
              <a:buNone/>
            </a:pPr>
            <a:endParaRPr lang="en-US" sz="2200" dirty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pPr marL="0" indent="0">
              <a:buNone/>
            </a:pPr>
            <a:r>
              <a:rPr lang="en-US" sz="2600" i="1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2600" i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Segoe UI" pitchFamily="34" charset="0"/>
                <a:cs typeface="Segoe UI" pitchFamily="34" charset="0"/>
              </a:rPr>
              <a:t>“A powerful all-in-one calculation system.”</a:t>
            </a:r>
          </a:p>
          <a:p>
            <a:endParaRPr lang="en-IN" sz="2200" dirty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852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600" b="1" dirty="0" smtClean="0">
                <a:solidFill>
                  <a:schemeClr val="accent6"/>
                </a:solidFill>
                <a:latin typeface="Segoe UI" pitchFamily="34" charset="0"/>
                <a:cs typeface="Segoe UI" pitchFamily="34" charset="0"/>
              </a:rPr>
              <a:t>Basic Calculator Module</a:t>
            </a:r>
            <a:endParaRPr lang="en-IN" sz="3600" b="1" dirty="0">
              <a:solidFill>
                <a:schemeClr val="accent6"/>
              </a:solidFill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556792"/>
            <a:ext cx="8229600" cy="4525963"/>
          </a:xfrm>
        </p:spPr>
        <p:txBody>
          <a:bodyPr>
            <a:normAutofit/>
          </a:bodyPr>
          <a:lstStyle/>
          <a:p>
            <a:r>
              <a:rPr lang="en-IN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Performs basic arithmetic operations</a:t>
            </a:r>
          </a:p>
          <a:p>
            <a:endParaRPr lang="en-IN" sz="2200" dirty="0" smtClean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r>
              <a:rPr lang="en-IN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Supports addition, multiplication, division</a:t>
            </a:r>
          </a:p>
          <a:p>
            <a:endParaRPr lang="en-IN" sz="2200" dirty="0" smtClean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r>
              <a:rPr lang="en-IN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Clean and user-friendly interface</a:t>
            </a:r>
          </a:p>
          <a:p>
            <a:endParaRPr lang="en-IN" sz="2200" dirty="0" smtClean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r>
              <a:rPr lang="en-IN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Fast and accurate calculations</a:t>
            </a:r>
          </a:p>
          <a:p>
            <a:endParaRPr lang="en-IN" sz="2200" dirty="0" smtClean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pPr marL="0" indent="0">
              <a:buNone/>
            </a:pPr>
            <a:endParaRPr lang="en-IN" sz="2200" dirty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0255" y="1556792"/>
            <a:ext cx="2592288" cy="4104456"/>
          </a:xfrm>
          <a:prstGeom prst="rect">
            <a:avLst/>
          </a:prstGeom>
          <a:ln>
            <a:solidFill>
              <a:srgbClr val="AAAAA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6012160" y="5733256"/>
            <a:ext cx="2664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Basic Application Interface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194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600" b="1" dirty="0" smtClean="0">
                <a:solidFill>
                  <a:schemeClr val="accent6"/>
                </a:solidFill>
                <a:latin typeface="Segoe UI" pitchFamily="34" charset="0"/>
                <a:cs typeface="Segoe UI" pitchFamily="34" charset="0"/>
              </a:rPr>
              <a:t>Scientific Calculator Module</a:t>
            </a:r>
            <a:endParaRPr lang="en-IN" sz="3600" b="1" dirty="0">
              <a:solidFill>
                <a:schemeClr val="accent6"/>
              </a:solidFill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617239"/>
            <a:ext cx="8229600" cy="4525963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A</a:t>
            </a:r>
            <a:r>
              <a:rPr lang="en-IN" sz="2200" b="1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dvanced</a:t>
            </a:r>
            <a:r>
              <a:rPr lang="en-IN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 mathematical operations</a:t>
            </a:r>
          </a:p>
          <a:p>
            <a:r>
              <a:rPr lang="en-IN" sz="2200" b="1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T</a:t>
            </a:r>
            <a:r>
              <a:rPr lang="en-IN" sz="2200" b="1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rigonometric</a:t>
            </a:r>
            <a:r>
              <a:rPr lang="en-IN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 functions </a:t>
            </a:r>
          </a:p>
          <a:p>
            <a:r>
              <a:rPr lang="en-IN" sz="2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L</a:t>
            </a:r>
            <a:r>
              <a:rPr lang="en-IN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ogarithmic &amp; exponential functions</a:t>
            </a:r>
          </a:p>
          <a:p>
            <a:r>
              <a:rPr lang="en-IN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Square root, power, and factorial</a:t>
            </a:r>
          </a:p>
          <a:p>
            <a:r>
              <a:rPr lang="en-IN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Designed for complex calculations</a:t>
            </a:r>
          </a:p>
          <a:p>
            <a:pPr marL="0" indent="0">
              <a:buNone/>
            </a:pPr>
            <a:endParaRPr lang="en-IN" sz="2200" dirty="0" smtClean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pPr marL="0" indent="0">
              <a:buNone/>
            </a:pPr>
            <a:endParaRPr lang="en-IN" sz="2200" dirty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pPr marL="0" indent="0">
              <a:buNone/>
            </a:pPr>
            <a:endParaRPr lang="en-IN" sz="2200" dirty="0" smtClean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pPr marL="0" indent="0">
              <a:buNone/>
            </a:pPr>
            <a:endParaRPr lang="en-IN" sz="2200" dirty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pPr marL="0" indent="0">
              <a:buNone/>
            </a:pPr>
            <a:endParaRPr lang="en-IN" sz="2200" dirty="0" smtClean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pPr marL="0" indent="0">
              <a:buNone/>
            </a:pPr>
            <a:r>
              <a:rPr lang="en-IN" sz="2600" i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Segoe UI" pitchFamily="34" charset="0"/>
                <a:cs typeface="Segoe UI" pitchFamily="34" charset="0"/>
              </a:rPr>
              <a:t>“Advanced calculations made simple.”</a:t>
            </a:r>
            <a:endParaRPr lang="en-IN" sz="2600" i="1" dirty="0">
              <a:solidFill>
                <a:schemeClr val="accent6">
                  <a:lumMod val="60000"/>
                  <a:lumOff val="40000"/>
                </a:schemeClr>
              </a:solidFill>
              <a:latin typeface="Segoe UI" pitchFamily="34" charset="0"/>
              <a:cs typeface="Segoe UI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1282452"/>
            <a:ext cx="3187412" cy="42930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9662" y="5575548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Scientific Calculator UI</a:t>
            </a:r>
            <a:endParaRPr lang="en-IN" dirty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080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b="1" dirty="0" smtClean="0">
                <a:solidFill>
                  <a:schemeClr val="accent6"/>
                </a:solidFill>
                <a:latin typeface="Segoe UI" pitchFamily="34" charset="0"/>
                <a:cs typeface="Segoe UI" pitchFamily="34" charset="0"/>
              </a:rPr>
              <a:t>Programmer Calculator Module</a:t>
            </a:r>
            <a:endParaRPr lang="en-IN" sz="3600" b="1" dirty="0">
              <a:solidFill>
                <a:schemeClr val="accent6"/>
              </a:solidFill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268760"/>
            <a:ext cx="8229600" cy="5328592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N</a:t>
            </a:r>
            <a:r>
              <a:rPr lang="en-US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umber system conversions </a:t>
            </a:r>
          </a:p>
          <a:p>
            <a:pPr lvl="1"/>
            <a:r>
              <a:rPr lang="en-US" sz="18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(Binary, Octal, Hex )</a:t>
            </a:r>
          </a:p>
          <a:p>
            <a:r>
              <a:rPr lang="en-US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Bitwise operations </a:t>
            </a:r>
          </a:p>
          <a:p>
            <a:pPr lvl="1"/>
            <a:r>
              <a:rPr lang="en-US" sz="18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( AND, OR, XOR, Shift )</a:t>
            </a:r>
            <a:endParaRPr lang="en-US" sz="2200" dirty="0" smtClean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r>
              <a:rPr lang="en-US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Efficient for low-level computations</a:t>
            </a:r>
          </a:p>
          <a:p>
            <a:r>
              <a:rPr lang="en-US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Debugging and development friendly</a:t>
            </a:r>
          </a:p>
          <a:p>
            <a:r>
              <a:rPr lang="en-US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Designed for programmers </a:t>
            </a:r>
          </a:p>
          <a:p>
            <a:endParaRPr lang="en-US" sz="2200" dirty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endParaRPr lang="en-US" sz="2200" dirty="0" smtClean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pPr marL="0" indent="0">
              <a:buNone/>
            </a:pPr>
            <a:endParaRPr lang="en-US" sz="2200" dirty="0" smtClean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endParaRPr lang="en-US" sz="2200" dirty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endParaRPr lang="en-US" sz="2200" dirty="0" smtClean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r>
              <a:rPr lang="en-US" sz="2200" i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Segoe UI" pitchFamily="34" charset="0"/>
                <a:cs typeface="Segoe UI" pitchFamily="34" charset="0"/>
              </a:rPr>
              <a:t>“Simplifying complex binary calculations for developers.”</a:t>
            </a:r>
            <a:endParaRPr lang="en-US" sz="2200" i="1" dirty="0">
              <a:solidFill>
                <a:schemeClr val="accent6">
                  <a:lumMod val="60000"/>
                  <a:lumOff val="40000"/>
                </a:schemeClr>
              </a:solidFill>
              <a:latin typeface="Segoe UI" pitchFamily="34" charset="0"/>
              <a:cs typeface="Segoe UI" pitchFamily="34" charset="0"/>
            </a:endParaRPr>
          </a:p>
          <a:p>
            <a:endParaRPr lang="en-IN" sz="2200" dirty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1340768"/>
            <a:ext cx="3062740" cy="41764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85284" y="5589240"/>
            <a:ext cx="3057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Programmer Calculator UI</a:t>
            </a:r>
            <a:endParaRPr lang="en-IN" dirty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863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b="1" dirty="0" smtClean="0">
                <a:solidFill>
                  <a:schemeClr val="accent6"/>
                </a:solidFill>
                <a:latin typeface="Segoe UI" pitchFamily="34" charset="0"/>
                <a:cs typeface="Segoe UI" pitchFamily="34" charset="0"/>
              </a:rPr>
              <a:t>Calculation History Feature</a:t>
            </a:r>
            <a:endParaRPr lang="en-IN" sz="3600" b="1" dirty="0">
              <a:solidFill>
                <a:schemeClr val="accent6"/>
              </a:solidFill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Store recent calculations automatically</a:t>
            </a:r>
          </a:p>
          <a:p>
            <a:r>
              <a:rPr lang="en-US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Tracks operations with date and time</a:t>
            </a:r>
          </a:p>
          <a:p>
            <a:r>
              <a:rPr lang="en-US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Helps users review previous results</a:t>
            </a:r>
          </a:p>
          <a:p>
            <a:r>
              <a:rPr lang="en-US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Supports filtering (e.g., last 24 hours)</a:t>
            </a:r>
          </a:p>
          <a:p>
            <a:r>
              <a:rPr lang="en-US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Improves usability and efficiency</a:t>
            </a:r>
          </a:p>
          <a:p>
            <a:endParaRPr lang="en-US" sz="2200" dirty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endParaRPr lang="en-US" sz="2200" dirty="0" smtClean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endParaRPr lang="en-US" sz="2200" dirty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endParaRPr lang="en-US" sz="2200" dirty="0" smtClean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endParaRPr lang="en-US" sz="2200" dirty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r>
              <a:rPr lang="en-US" sz="2600" i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Segoe UI" pitchFamily="34" charset="0"/>
                <a:cs typeface="Segoe UI" pitchFamily="34" charset="0"/>
              </a:rPr>
              <a:t>“Track your calculations anytime, anywhere.”</a:t>
            </a:r>
            <a:endParaRPr lang="en-IN" sz="2600" i="1" dirty="0">
              <a:solidFill>
                <a:schemeClr val="accent6">
                  <a:lumMod val="60000"/>
                  <a:lumOff val="40000"/>
                </a:schemeClr>
              </a:solidFill>
              <a:latin typeface="Segoe UI" pitchFamily="34" charset="0"/>
              <a:cs typeface="Segoe UI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0" t="7922" r="63878" b="24705"/>
          <a:stretch/>
        </p:blipFill>
        <p:spPr>
          <a:xfrm>
            <a:off x="5718260" y="1700808"/>
            <a:ext cx="3051143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38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b="1" dirty="0" smtClean="0">
                <a:solidFill>
                  <a:schemeClr val="accent6"/>
                </a:solidFill>
                <a:latin typeface="Segoe UI" pitchFamily="34" charset="0"/>
                <a:cs typeface="Segoe UI" pitchFamily="34" charset="0"/>
              </a:rPr>
              <a:t>Conclusion</a:t>
            </a:r>
            <a:endParaRPr lang="en-IN" sz="3600" b="1" dirty="0">
              <a:solidFill>
                <a:schemeClr val="accent6"/>
              </a:solidFill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Developed an all-in-one calculator system</a:t>
            </a:r>
          </a:p>
          <a:p>
            <a:r>
              <a:rPr lang="en-US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Integrates Basic, Scientific, and programmer modules</a:t>
            </a:r>
          </a:p>
          <a:p>
            <a:r>
              <a:rPr lang="en-US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Provides fast, accurate, and user-friendly calculations</a:t>
            </a:r>
          </a:p>
          <a:p>
            <a:r>
              <a:rPr lang="en-US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Reduces dependency on multiple tools</a:t>
            </a:r>
          </a:p>
          <a:p>
            <a:r>
              <a:rPr lang="en-US" sz="2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Built with a modular and scalable design</a:t>
            </a:r>
          </a:p>
          <a:p>
            <a:endParaRPr lang="en-US" sz="2200" dirty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endParaRPr lang="en-US" sz="2200" dirty="0" smtClean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pPr marL="0" indent="0">
              <a:buNone/>
            </a:pPr>
            <a:endParaRPr lang="en-US" sz="2200" dirty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r>
              <a:rPr lang="en-US" sz="2600" i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Segoe UI" pitchFamily="34" charset="0"/>
                <a:cs typeface="Segoe UI" pitchFamily="34" charset="0"/>
              </a:rPr>
              <a:t>”A smart and efficient solution for all calculation needs.”</a:t>
            </a:r>
            <a:endParaRPr lang="en-IN" sz="2600" i="1" dirty="0">
              <a:solidFill>
                <a:schemeClr val="accent6">
                  <a:lumMod val="60000"/>
                  <a:lumOff val="40000"/>
                </a:schemeClr>
              </a:solidFill>
              <a:latin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0376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b="1" dirty="0" smtClean="0">
              <a:solidFill>
                <a:schemeClr val="accent6"/>
              </a:solidFill>
              <a:latin typeface="Segoe UI" pitchFamily="34" charset="0"/>
              <a:cs typeface="Segoe UI" pitchFamily="34" charset="0"/>
            </a:endParaRPr>
          </a:p>
          <a:p>
            <a:pPr marL="0" indent="0" algn="ctr">
              <a:buNone/>
            </a:pPr>
            <a:endParaRPr lang="en-US" b="1" dirty="0">
              <a:solidFill>
                <a:schemeClr val="accent6"/>
              </a:solidFill>
              <a:latin typeface="Segoe UI" pitchFamily="34" charset="0"/>
              <a:cs typeface="Segoe UI" pitchFamily="34" charset="0"/>
            </a:endParaRPr>
          </a:p>
          <a:p>
            <a:pPr marL="0" indent="0" algn="ctr">
              <a:buNone/>
            </a:pPr>
            <a:r>
              <a:rPr lang="en-US" b="1" dirty="0" smtClean="0">
                <a:solidFill>
                  <a:schemeClr val="accent6"/>
                </a:solidFill>
                <a:latin typeface="Segoe UI" pitchFamily="34" charset="0"/>
                <a:cs typeface="Segoe UI" pitchFamily="34" charset="0"/>
              </a:rPr>
              <a:t>Thank you</a:t>
            </a:r>
            <a:endParaRPr lang="en-IN" b="1" dirty="0">
              <a:solidFill>
                <a:schemeClr val="accent6"/>
              </a:solidFill>
              <a:latin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687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552</TotalTime>
  <Words>432</Words>
  <Application>Microsoft Office PowerPoint</Application>
  <PresentationFormat>On-screen Show (4:3)</PresentationFormat>
  <Paragraphs>129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Calculator+  Unified Smart Calculation System</vt:lpstr>
      <vt:lpstr>The Problem</vt:lpstr>
      <vt:lpstr>The Solution</vt:lpstr>
      <vt:lpstr>System Overview</vt:lpstr>
      <vt:lpstr>Technology Stack</vt:lpstr>
      <vt:lpstr>Key Features</vt:lpstr>
      <vt:lpstr>Basic Calculator Module</vt:lpstr>
      <vt:lpstr>Scientific Calculator Module</vt:lpstr>
      <vt:lpstr>Programmer Calculator Module</vt:lpstr>
      <vt:lpstr>Calculation History Feature</vt:lpstr>
      <vt:lpstr>Conclusion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Calsi+ : Unified Smart Calculator</dc:title>
  <dc:creator>hp</dc:creator>
  <cp:lastModifiedBy>hp</cp:lastModifiedBy>
  <cp:revision>53</cp:revision>
  <dcterms:created xsi:type="dcterms:W3CDTF">2026-04-22T04:05:23Z</dcterms:created>
  <dcterms:modified xsi:type="dcterms:W3CDTF">2026-04-27T08:38:06Z</dcterms:modified>
</cp:coreProperties>
</file>